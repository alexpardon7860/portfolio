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89" r:id="rId11"/>
    <p:sldId id="290" r:id="rId12"/>
    <p:sldId id="264" r:id="rId13"/>
    <p:sldId id="265" r:id="rId14"/>
    <p:sldId id="266" r:id="rId15"/>
    <p:sldId id="267" r:id="rId16"/>
    <p:sldId id="268" r:id="rId17"/>
    <p:sldId id="269" r:id="rId18"/>
    <p:sldId id="281" r:id="rId19"/>
    <p:sldId id="270" r:id="rId20"/>
    <p:sldId id="271" r:id="rId21"/>
    <p:sldId id="287" r:id="rId22"/>
    <p:sldId id="273" r:id="rId23"/>
    <p:sldId id="274" r:id="rId24"/>
    <p:sldId id="282" r:id="rId25"/>
    <p:sldId id="275" r:id="rId26"/>
    <p:sldId id="283" r:id="rId27"/>
    <p:sldId id="276" r:id="rId28"/>
    <p:sldId id="285" r:id="rId29"/>
    <p:sldId id="278" r:id="rId30"/>
    <p:sldId id="279" r:id="rId31"/>
    <p:sldId id="28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1382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36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4956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5739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8896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892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157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3376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3347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5631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4324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38E82-82E0-42AB-9EE7-018ACC29678C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4B4F-3C0A-4970-B486-8A20CB0191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193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Support Vector machines Classifier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1585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Support Vector Machines (SVM) are a powerful class of supervised machine learning algorithms primarily used for classification and regression tasks.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are particularly well-suited for tasks where the goal is to separate data points into different classes or groups.</a:t>
            </a:r>
          </a:p>
          <a:p>
            <a:pPr algn="just"/>
            <a:r>
              <a:rPr lang="en-US" dirty="0"/>
              <a:t>At its core, SVM aims to find the optimal hyperplane that best separates data points of different classes in a high-dimensional space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hyperplane serves as the decision boundary, allowing SVM to classify new, unseen data points based on their position relative to this boundary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16330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Features of SVM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Maximizing Margin:</a:t>
            </a:r>
            <a:r>
              <a:rPr lang="en-US" dirty="0"/>
              <a:t> SVM's primary objective is to maximize the margin, which is the distance between the decision boundary (hyperplane) and the nearest data points from each class. </a:t>
            </a:r>
            <a:endParaRPr lang="en-US" dirty="0" smtClean="0"/>
          </a:p>
          <a:p>
            <a:pPr lvl="1" algn="just"/>
            <a:r>
              <a:rPr lang="en-US" dirty="0" smtClean="0"/>
              <a:t>This </a:t>
            </a:r>
            <a:r>
              <a:rPr lang="en-US" dirty="0"/>
              <a:t>maximization helps SVM achieve robust generalization to new data.</a:t>
            </a:r>
          </a:p>
          <a:p>
            <a:pPr algn="just"/>
            <a:r>
              <a:rPr lang="en-US" b="1" dirty="0"/>
              <a:t>Support Vectors:</a:t>
            </a:r>
            <a:r>
              <a:rPr lang="en-US" dirty="0"/>
              <a:t> Support vectors are the data points that lie closest to the decision boundary. </a:t>
            </a:r>
            <a:endParaRPr lang="en-US" dirty="0" smtClean="0"/>
          </a:p>
          <a:p>
            <a:pPr lvl="1" algn="just"/>
            <a:r>
              <a:rPr lang="en-US" dirty="0" smtClean="0"/>
              <a:t>They </a:t>
            </a:r>
            <a:r>
              <a:rPr lang="en-US" dirty="0"/>
              <a:t>play a crucial role in defining the hyperplane and determining the SVM's performance.</a:t>
            </a:r>
          </a:p>
          <a:p>
            <a:pPr algn="just"/>
            <a:r>
              <a:rPr lang="en-US" b="1" dirty="0"/>
              <a:t>Linear and Non-Linear Classification:</a:t>
            </a:r>
            <a:r>
              <a:rPr lang="en-US" dirty="0"/>
              <a:t> SVM can be used for both linear and non-linear classification tasks. </a:t>
            </a:r>
            <a:endParaRPr lang="en-US" dirty="0" smtClean="0"/>
          </a:p>
          <a:p>
            <a:pPr lvl="1" algn="just"/>
            <a:r>
              <a:rPr lang="en-US" dirty="0" smtClean="0"/>
              <a:t>In </a:t>
            </a:r>
            <a:r>
              <a:rPr lang="en-US" dirty="0"/>
              <a:t>the linear case, it finds a straight-line hyperplane, while in the non-linear case, it employs kernel functions to handle more complex decision boundaries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0820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Linear </a:t>
            </a:r>
            <a:r>
              <a:rPr lang="en-IN" b="1" dirty="0" err="1" smtClean="0"/>
              <a:t>Separability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Linear </a:t>
            </a:r>
            <a:r>
              <a:rPr lang="en-US" dirty="0" err="1"/>
              <a:t>separability</a:t>
            </a:r>
            <a:r>
              <a:rPr lang="en-US" dirty="0"/>
              <a:t> is a fundamental concept in Support Vector Machines (SVM) and plays a pivotal role in understanding how SVM works.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refers to the property of data points being separable into distinct classes by a straight-line (in two dimensions) or a hyperplane (in higher dimensions).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3578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is Linear </a:t>
            </a:r>
            <a:r>
              <a:rPr lang="en-US" b="1" dirty="0" err="1" smtClean="0"/>
              <a:t>Separability</a:t>
            </a:r>
            <a:r>
              <a:rPr lang="en-US" b="1" dirty="0" smtClean="0"/>
              <a:t> Important?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SVM's </a:t>
            </a:r>
            <a:r>
              <a:rPr lang="en-US" b="1" dirty="0"/>
              <a:t>Objective:</a:t>
            </a:r>
            <a:r>
              <a:rPr lang="en-US" dirty="0"/>
              <a:t> SVM aims to find the best hyperplane that separates data points into classes. </a:t>
            </a:r>
            <a:endParaRPr lang="en-US" dirty="0" smtClean="0"/>
          </a:p>
          <a:p>
            <a:pPr lvl="1" algn="just"/>
            <a:r>
              <a:rPr lang="en-US" dirty="0" smtClean="0"/>
              <a:t>Linear </a:t>
            </a:r>
            <a:r>
              <a:rPr lang="en-US" dirty="0" err="1"/>
              <a:t>separability</a:t>
            </a:r>
            <a:r>
              <a:rPr lang="en-US" dirty="0"/>
              <a:t> ensures that a clear decision boundary (hyperplane) exists.</a:t>
            </a:r>
          </a:p>
          <a:p>
            <a:pPr algn="just"/>
            <a:r>
              <a:rPr lang="en-US" b="1" dirty="0"/>
              <a:t>Margin Maximization:</a:t>
            </a:r>
            <a:r>
              <a:rPr lang="en-US" dirty="0"/>
              <a:t> Linearly separable data allows SVM to maximize the margin effectively. </a:t>
            </a:r>
            <a:endParaRPr lang="en-US" dirty="0" smtClean="0"/>
          </a:p>
          <a:p>
            <a:pPr lvl="1" algn="just"/>
            <a:r>
              <a:rPr lang="en-US" dirty="0" smtClean="0"/>
              <a:t>The </a:t>
            </a:r>
            <a:r>
              <a:rPr lang="en-US" dirty="0"/>
              <a:t>margin is the distance between the decision boundary and the nearest data points from each class. A larger margin leads to better generalization.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9184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Non-Linear </a:t>
            </a:r>
            <a:r>
              <a:rPr lang="en-US" b="1" dirty="0" err="1" smtClean="0"/>
              <a:t>Separability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It's </a:t>
            </a:r>
            <a:r>
              <a:rPr lang="en-US" dirty="0"/>
              <a:t>important to note that not all datasets are linearly separable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cases where data is not linearly separable, SVM can still be used effectively by employing kernel functions, which allow it to handle more complex decision boundaries.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6606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Linearly Separable Vs. Non Linearly Separable data Points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https://media.geeksforgeeks.org/wp-content/uploads/20200605170732/linearse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960" y="1825625"/>
            <a:ext cx="95250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0664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Margins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In Support Vector Machines (SVM), "margins" refer to the region or space between the decision boundary (hyperplane) and the nearest data points from each class. </a:t>
            </a:r>
            <a:endParaRPr lang="en-US" dirty="0" smtClean="0"/>
          </a:p>
          <a:p>
            <a:pPr algn="just"/>
            <a:r>
              <a:rPr lang="en-US" dirty="0" smtClean="0"/>
              <a:t>Understanding </a:t>
            </a:r>
            <a:r>
              <a:rPr lang="en-US" dirty="0"/>
              <a:t>margins is crucial as they are central to SVM's optimization process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Why Are Margins Important in SVM?</a:t>
            </a:r>
            <a:endParaRPr lang="en-US" dirty="0"/>
          </a:p>
          <a:p>
            <a:pPr lvl="1" algn="just"/>
            <a:r>
              <a:rPr lang="en-US" b="1" dirty="0"/>
              <a:t>Maximizing Separation:</a:t>
            </a:r>
            <a:r>
              <a:rPr lang="en-US" dirty="0"/>
              <a:t> SVM's primary goal is to maximize the margin. </a:t>
            </a:r>
            <a:endParaRPr lang="en-US" dirty="0" smtClean="0"/>
          </a:p>
          <a:p>
            <a:pPr lvl="2" algn="just"/>
            <a:r>
              <a:rPr lang="en-US" dirty="0" smtClean="0"/>
              <a:t>A </a:t>
            </a:r>
            <a:r>
              <a:rPr lang="en-US" dirty="0"/>
              <a:t>larger margin means a better separation of data points, leading to improved classification performance.</a:t>
            </a:r>
          </a:p>
          <a:p>
            <a:pPr lvl="1" algn="just"/>
            <a:r>
              <a:rPr lang="en-US" b="1" dirty="0"/>
              <a:t>Robust Generalization:</a:t>
            </a:r>
            <a:r>
              <a:rPr lang="en-US" dirty="0"/>
              <a:t> A wide margin results in a more robust model that can generalize better to new, unseen data. </a:t>
            </a:r>
            <a:endParaRPr lang="en-US" dirty="0" smtClean="0"/>
          </a:p>
          <a:p>
            <a:pPr lvl="2" algn="just"/>
            <a:r>
              <a:rPr lang="en-US" dirty="0" smtClean="0"/>
              <a:t>It </a:t>
            </a:r>
            <a:r>
              <a:rPr lang="en-US" dirty="0"/>
              <a:t>helps in reducing </a:t>
            </a:r>
            <a:r>
              <a:rPr lang="en-US" dirty="0" err="1"/>
              <a:t>overfitting</a:t>
            </a:r>
            <a:r>
              <a:rPr lang="en-US" dirty="0"/>
              <a:t>, where the model performs well on training data but poorly on test data.</a:t>
            </a:r>
          </a:p>
          <a:p>
            <a:pPr lvl="1" algn="just"/>
            <a:r>
              <a:rPr lang="en-US" b="1" dirty="0"/>
              <a:t>Support Vector Identification:</a:t>
            </a:r>
            <a:r>
              <a:rPr lang="en-US" dirty="0"/>
              <a:t> The support vectors are the data points closest to the hyperplane and define the margin. </a:t>
            </a:r>
            <a:endParaRPr lang="en-US" dirty="0" smtClean="0"/>
          </a:p>
          <a:p>
            <a:pPr lvl="2" algn="just"/>
            <a:r>
              <a:rPr lang="en-US" dirty="0" smtClean="0"/>
              <a:t>They </a:t>
            </a:r>
            <a:r>
              <a:rPr lang="en-US" dirty="0"/>
              <a:t>are critical in determining the decision boundary and the model's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58328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Soft Margin SVM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the world of Support Vector Machines (SVM), we often encounter datasets that are not perfectly linearly separable, where a clear hyperplane cannot separate all data points without errors.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such cases, SVM introduces the concept of a "soft margin."</a:t>
            </a:r>
          </a:p>
          <a:p>
            <a:pPr algn="just"/>
            <a:r>
              <a:rPr lang="en-US" b="1" dirty="0"/>
              <a:t>What is a Soft Margin?</a:t>
            </a:r>
            <a:endParaRPr lang="en-US" dirty="0"/>
          </a:p>
          <a:p>
            <a:pPr lvl="1" algn="just"/>
            <a:r>
              <a:rPr lang="en-US" dirty="0"/>
              <a:t>A soft margin is a modification to the traditional SVM approach that allows for some degree of misclassification of data points.</a:t>
            </a:r>
          </a:p>
          <a:p>
            <a:pPr lvl="1" algn="just"/>
            <a:r>
              <a:rPr lang="en-US" dirty="0"/>
              <a:t>It acknowledges the presence of noise or outliers in real-world datasets, making the model more robust.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919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When is a Soft Margin Used?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Noisy Data:</a:t>
            </a:r>
            <a:r>
              <a:rPr lang="en-US" dirty="0" smtClean="0"/>
              <a:t> Soft margin SVM is beneficial when the dataset contains noisy or mislabeled data points that are difficult to separate correctly.</a:t>
            </a:r>
          </a:p>
          <a:p>
            <a:pPr algn="just"/>
            <a:r>
              <a:rPr lang="en-US" b="1" dirty="0" smtClean="0"/>
              <a:t>Overlapping Classes:</a:t>
            </a:r>
            <a:r>
              <a:rPr lang="en-US" dirty="0" smtClean="0"/>
              <a:t> In situations where classes overlap to some extent, a hard margin (perfect separation) may not be feasible or result in an overly complex model.</a:t>
            </a:r>
          </a:p>
          <a:p>
            <a:pPr algn="just"/>
            <a:r>
              <a:rPr lang="en-US" b="1" dirty="0" smtClean="0"/>
              <a:t>Imbalanced Datasets:</a:t>
            </a:r>
            <a:r>
              <a:rPr lang="en-US" dirty="0" smtClean="0"/>
              <a:t> Soft margin can be advantageous when dealing with imbalanced datasets, where one class significantly outnumbers the other.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 of Soft Margin SVM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Increased Robustness: Soft margin SVM can handle imperfect datasets and generalize better to unseen data.</a:t>
            </a:r>
          </a:p>
          <a:p>
            <a:pPr algn="just"/>
            <a:r>
              <a:rPr lang="en-US" dirty="0" smtClean="0"/>
              <a:t>Better Convergence: It is often more stable during training as it accounts for minor variations in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Support Vectors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Support Vectors are a crucial concept in Support Vector Machines (SVM).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are the subset of data points that have the closest proximity to the decision boundary (hyperplane) and play a pivotal role in defining and optimizing the SVM model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Characteristics of Support </a:t>
            </a:r>
            <a:r>
              <a:rPr lang="en-US" b="1" dirty="0" smtClean="0"/>
              <a:t>Vectors</a:t>
            </a:r>
            <a:endParaRPr lang="en-US" dirty="0"/>
          </a:p>
          <a:p>
            <a:pPr lvl="1" algn="just"/>
            <a:r>
              <a:rPr lang="en-US" b="1" dirty="0"/>
              <a:t>Closest to the Hyperplane:</a:t>
            </a:r>
            <a:r>
              <a:rPr lang="en-US" dirty="0"/>
              <a:t> Support vectors are the data points that lie at the shortest distance from the decision boundary. They are essentially the "border" points.</a:t>
            </a:r>
          </a:p>
          <a:p>
            <a:pPr lvl="1" algn="just"/>
            <a:r>
              <a:rPr lang="en-US" b="1" dirty="0"/>
              <a:t>Determine Margin:</a:t>
            </a:r>
            <a:r>
              <a:rPr lang="en-US" dirty="0"/>
              <a:t> The positions of support vectors dictate the width of the margin. SVM aims to maximize this margin while ensuring that support vectors remain correctly classified.</a:t>
            </a:r>
          </a:p>
          <a:p>
            <a:pPr lvl="1" algn="just"/>
            <a:r>
              <a:rPr lang="en-US" b="1" dirty="0"/>
              <a:t>Robustness:</a:t>
            </a:r>
            <a:r>
              <a:rPr lang="en-US" dirty="0"/>
              <a:t> Since support vectors are the most critical data points, SVM is robust to outliers and noisy data because these anomalies are unlikely to be support vectors.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3098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Hyperplane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the world of Support Vector Machines (SVM), the term "hyperplane" plays a pivotal role as it defines the decision boundary that separates data points into different classes.</a:t>
            </a:r>
          </a:p>
          <a:p>
            <a:pPr algn="just"/>
            <a:r>
              <a:rPr lang="en-US" b="1" dirty="0"/>
              <a:t>What is a Hyperplane?</a:t>
            </a:r>
            <a:endParaRPr lang="en-US" dirty="0"/>
          </a:p>
          <a:p>
            <a:pPr lvl="1" algn="just"/>
            <a:r>
              <a:rPr lang="en-US" dirty="0"/>
              <a:t>A hyperplane, in SVM, is a flat, high-dimensional surface that acts as the decision boundary.</a:t>
            </a:r>
          </a:p>
          <a:p>
            <a:pPr lvl="1" algn="just"/>
            <a:r>
              <a:rPr lang="en-US" dirty="0"/>
              <a:t>In two dimensions (2D), a hyperplane is simply a straight line.</a:t>
            </a:r>
          </a:p>
          <a:p>
            <a:pPr lvl="1" algn="just"/>
            <a:r>
              <a:rPr lang="en-US" dirty="0"/>
              <a:t>In three dimensions (3D), it becomes a flat plane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08242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Purpose of the Hyperplane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dirty="0" err="1"/>
              <a:t>hyperplane's</a:t>
            </a:r>
            <a:r>
              <a:rPr lang="en-US" dirty="0"/>
              <a:t> primary purpose is to separate data points from different classes.</a:t>
            </a:r>
          </a:p>
          <a:p>
            <a:pPr algn="just"/>
            <a:r>
              <a:rPr lang="en-US" dirty="0"/>
              <a:t>It serves as the foundation for SVM's classification process.</a:t>
            </a:r>
          </a:p>
          <a:p>
            <a:pPr algn="just"/>
            <a:r>
              <a:rPr lang="en-US" dirty="0"/>
              <a:t>Data points are classified based on which side of the hyperplane they fall.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96962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2D and 3D Representation of </a:t>
            </a:r>
            <a:r>
              <a:rPr lang="en-IN" b="1" dirty="0" err="1" smtClean="0"/>
              <a:t>Hyperplane</a:t>
            </a:r>
            <a:endParaRPr lang="en-IN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61870" y="2169253"/>
            <a:ext cx="8266232" cy="3488063"/>
          </a:xfrm>
        </p:spPr>
      </p:pic>
    </p:spTree>
    <p:extLst>
      <p:ext uri="{BB962C8B-B14F-4D97-AF65-F5344CB8AC3E}">
        <p14:creationId xmlns:p14="http://schemas.microsoft.com/office/powerpoint/2010/main" xmlns="" val="3305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Linear SVM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Linear Support Vector Machines (SVM) are a fundamental concept in machine learning, particularly in classification tasks.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are designed to work with linearly separable data, where a straight-line (in 2D) or a hyperplane (in higher dimensions) can effectively separate the data points into distinct classes.</a:t>
            </a:r>
          </a:p>
          <a:p>
            <a:pPr algn="just"/>
            <a:r>
              <a:rPr lang="en-US" b="1" dirty="0"/>
              <a:t>Key Characteristics of Linear SVM:</a:t>
            </a:r>
            <a:endParaRPr lang="en-US" dirty="0"/>
          </a:p>
          <a:p>
            <a:pPr lvl="1" algn="just"/>
            <a:r>
              <a:rPr lang="en-US" b="1" dirty="0"/>
              <a:t>Straight-line or Hyperplane:</a:t>
            </a:r>
            <a:r>
              <a:rPr lang="en-US" dirty="0"/>
              <a:t> Linear SVM seeks to find a straight-line (in 2D) or a hyperplane (in higher dimensions) that best separates the data.</a:t>
            </a:r>
          </a:p>
          <a:p>
            <a:pPr lvl="1" algn="just"/>
            <a:r>
              <a:rPr lang="en-US" b="1" dirty="0"/>
              <a:t>Maximizing Margin:</a:t>
            </a:r>
            <a:r>
              <a:rPr lang="en-US" dirty="0"/>
              <a:t> It aims to maximize the margin, the distance between the hyperplane and the nearest data points from each class. A larger margin leads to better generalization.</a:t>
            </a:r>
          </a:p>
          <a:p>
            <a:pPr lvl="1" algn="just"/>
            <a:r>
              <a:rPr lang="en-US" b="1" dirty="0"/>
              <a:t>Efficiency:</a:t>
            </a:r>
            <a:r>
              <a:rPr lang="en-US" dirty="0"/>
              <a:t> Linear SVM is computationally efficient and works well with high-dimensional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34031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Advantages of Linear SVM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Simplicity</a:t>
            </a:r>
            <a:r>
              <a:rPr lang="en-US" b="1" dirty="0"/>
              <a:t>:</a:t>
            </a:r>
            <a:r>
              <a:rPr lang="en-US" dirty="0"/>
              <a:t> Linear SVM is conceptually straightforward and easy to implement.</a:t>
            </a:r>
          </a:p>
          <a:p>
            <a:pPr algn="just"/>
            <a:r>
              <a:rPr lang="en-US" b="1" dirty="0"/>
              <a:t>Efficiency:</a:t>
            </a:r>
            <a:r>
              <a:rPr lang="en-US" dirty="0"/>
              <a:t> It works efficiently with large datasets and high-dimensional feature spaces.</a:t>
            </a:r>
          </a:p>
          <a:p>
            <a:pPr algn="just"/>
            <a:r>
              <a:rPr lang="en-US" b="1" dirty="0"/>
              <a:t>Generalization:</a:t>
            </a:r>
            <a:r>
              <a:rPr lang="en-US" dirty="0"/>
              <a:t> Linear SVM often generalizes well, especially when the data is linearly separable.</a:t>
            </a:r>
          </a:p>
          <a:p>
            <a:pPr algn="just"/>
            <a:r>
              <a:rPr lang="en-US" dirty="0" smtClean="0"/>
              <a:t>Linear </a:t>
            </a:r>
            <a:r>
              <a:rPr lang="en-US" dirty="0"/>
              <a:t>SVM is suitable when the data is linearly separable or when simplicity and efficiency are essential for the task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1475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Limitations of Linear SVM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Limited for Non-Linear Data:</a:t>
            </a:r>
            <a:r>
              <a:rPr lang="en-US" dirty="0" smtClean="0"/>
              <a:t> Linear SVM performs poorly when data is not linearly separable, as it cannot capture complex decision boundaries.</a:t>
            </a:r>
          </a:p>
          <a:p>
            <a:pPr algn="just"/>
            <a:r>
              <a:rPr lang="en-US" b="1" dirty="0" smtClean="0"/>
              <a:t>Sensitivity to Outliers:</a:t>
            </a:r>
            <a:r>
              <a:rPr lang="en-US" dirty="0" smtClean="0"/>
              <a:t> It can be sensitive to outliers, as outliers may affect the position of the hyperplane.</a:t>
            </a:r>
          </a:p>
          <a:p>
            <a:pPr algn="just"/>
            <a:r>
              <a:rPr lang="en-US" b="1" dirty="0" smtClean="0"/>
              <a:t>Less Expressive:</a:t>
            </a:r>
            <a:r>
              <a:rPr lang="en-US" dirty="0" smtClean="0"/>
              <a:t> Compared to non-linear SVM, it has less expressive power to capture intricate patterns in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Kernel Functions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Support Vector Machines (SVM), "Kernel Functions" are essential tools that enable SVM to handle data that is not linearly separable.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transform the data into a higher-dimensional space, making it possible to find a hyperplane that can separate non-linearly separable data.</a:t>
            </a:r>
          </a:p>
          <a:p>
            <a:pPr algn="just"/>
            <a:r>
              <a:rPr lang="en-US" b="1" dirty="0"/>
              <a:t>Why Use Kernel Functions?</a:t>
            </a:r>
            <a:endParaRPr lang="en-US" dirty="0"/>
          </a:p>
          <a:p>
            <a:pPr lvl="1" algn="just"/>
            <a:r>
              <a:rPr lang="en-US" b="1" dirty="0"/>
              <a:t>Handling Non-Linearity:</a:t>
            </a:r>
            <a:r>
              <a:rPr lang="en-US" dirty="0"/>
              <a:t> Many real-world datasets are not linearly separable, meaning a straight line or hyperplane cannot effectively separate the classes. </a:t>
            </a:r>
            <a:endParaRPr lang="en-US" dirty="0" smtClean="0"/>
          </a:p>
          <a:p>
            <a:pPr lvl="2" algn="just"/>
            <a:r>
              <a:rPr lang="en-US" dirty="0" smtClean="0"/>
              <a:t>Kernel </a:t>
            </a:r>
            <a:r>
              <a:rPr lang="en-US" dirty="0"/>
              <a:t>functions allow SVM to handle complex, non-linear decision boundaries.</a:t>
            </a:r>
          </a:p>
          <a:p>
            <a:pPr algn="just"/>
            <a:r>
              <a:rPr lang="en-US" b="1" dirty="0"/>
              <a:t>Avoiding Dimensionality Issues:</a:t>
            </a:r>
            <a:r>
              <a:rPr lang="en-US" dirty="0"/>
              <a:t> Kernel functions enable SVM to implicitly operate in a higher-dimensional </a:t>
            </a:r>
            <a:r>
              <a:rPr lang="en-US" dirty="0" smtClean="0"/>
              <a:t>space.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26141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Kernel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There </a:t>
            </a:r>
            <a:r>
              <a:rPr lang="en-US" dirty="0"/>
              <a:t>are several types of kernel functions commonly used in SVM. Here are a few:</a:t>
            </a:r>
          </a:p>
          <a:p>
            <a:pPr lvl="1" algn="just"/>
            <a:r>
              <a:rPr lang="en-US" b="1" dirty="0"/>
              <a:t>Linear Kernel:</a:t>
            </a:r>
            <a:r>
              <a:rPr lang="en-US" dirty="0"/>
              <a:t> The linear kernel is used for linearly separable data. It doesn't transform the data; it uses the original feature space.</a:t>
            </a:r>
          </a:p>
          <a:p>
            <a:pPr lvl="1" algn="just"/>
            <a:r>
              <a:rPr lang="en-US" b="1" dirty="0"/>
              <a:t>Polynomial Kernel:</a:t>
            </a:r>
            <a:r>
              <a:rPr lang="en-US" dirty="0"/>
              <a:t> This kernel transforms the data into a polynomial feature space, allowing SVM to capture non-linear patterns.</a:t>
            </a:r>
          </a:p>
          <a:p>
            <a:pPr lvl="1" algn="just"/>
            <a:r>
              <a:rPr lang="en-US" b="1" dirty="0"/>
              <a:t>Radial Basis Function (RBF) Kernel:</a:t>
            </a:r>
            <a:r>
              <a:rPr lang="en-US" dirty="0"/>
              <a:t> The RBF kernel is one of the most popular choices. It transforms the data into an infinite-dimensional space, making it highly flexible for capturing complex patterns.</a:t>
            </a:r>
          </a:p>
          <a:p>
            <a:pPr lvl="1" algn="just"/>
            <a:r>
              <a:rPr lang="en-US" b="1" dirty="0"/>
              <a:t>Sigmoid Kernel:</a:t>
            </a:r>
            <a:r>
              <a:rPr lang="en-US" dirty="0"/>
              <a:t> The sigmoid kernel is used for problems where the data distribution is not well-known. It is often used in neural network-inspired SVMs.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26993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0446" y="222068"/>
            <a:ext cx="1122099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Q1.Consider the following set of data points given ,find the optimal hyperplane for these data points.</a:t>
            </a:r>
          </a:p>
          <a:p>
            <a:endParaRPr lang="en-US" sz="2800" dirty="0" smtClean="0"/>
          </a:p>
          <a:p>
            <a:r>
              <a:rPr lang="en-US" sz="2800" dirty="0" smtClean="0"/>
              <a:t>(1,0.5) (1,1) (1,-0.5) (-0.5,-0.5) (0.5,0.5) (2,0) (4,0) (4.5,1) (4.5,0.5) (5,-1) (5.5,0) </a:t>
            </a:r>
          </a:p>
          <a:p>
            <a:r>
              <a:rPr lang="en-US" sz="2800" dirty="0" smtClean="0"/>
              <a:t>Solution:- 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Draw all the points on plane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Find the support vectors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Add the bias(b) value to convert 2D to 3D form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Consider parameters for every support vectors like </a:t>
            </a:r>
            <a:r>
              <a:rPr lang="el-GR" sz="2800" dirty="0" smtClean="0"/>
              <a:t>α</a:t>
            </a:r>
            <a:r>
              <a:rPr lang="en-US" sz="2800" dirty="0" smtClean="0"/>
              <a:t>1,</a:t>
            </a:r>
            <a:r>
              <a:rPr lang="el-GR" sz="2800" dirty="0" smtClean="0"/>
              <a:t> α</a:t>
            </a:r>
            <a:r>
              <a:rPr lang="en-US" sz="2800" dirty="0" smtClean="0"/>
              <a:t>2 etc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Find the linear equations and solve them to find parameter values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Final equation of hyperplane is 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Tuning Parameters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Support Vector Machines (SVM), there are several key tuning parameters that allow you to customize and fine-tune the model's behavior to achieve the best possible performance for your specific dataset. </a:t>
            </a:r>
          </a:p>
          <a:p>
            <a:pPr algn="just"/>
            <a:r>
              <a:rPr lang="en-US" b="1" dirty="0" smtClean="0"/>
              <a:t>C </a:t>
            </a:r>
            <a:r>
              <a:rPr lang="en-US" b="1" dirty="0"/>
              <a:t>(Cost Parameter):</a:t>
            </a:r>
            <a:endParaRPr lang="en-US" dirty="0"/>
          </a:p>
          <a:p>
            <a:pPr lvl="1" algn="just"/>
            <a:r>
              <a:rPr lang="en-US" b="1" dirty="0"/>
              <a:t>Definition:</a:t>
            </a:r>
            <a:r>
              <a:rPr lang="en-US" dirty="0"/>
              <a:t> The C parameter controls the trade-off between maximizing the margin and minimizing classification errors on the training data.</a:t>
            </a:r>
          </a:p>
          <a:p>
            <a:pPr lvl="1" algn="just"/>
            <a:r>
              <a:rPr lang="en-US" b="1" dirty="0"/>
              <a:t>Higher C:</a:t>
            </a:r>
            <a:r>
              <a:rPr lang="en-US" dirty="0"/>
              <a:t> Results in a smaller margin but fewer training errors, potentially leading to </a:t>
            </a:r>
            <a:r>
              <a:rPr lang="en-US" dirty="0" err="1"/>
              <a:t>overfitting</a:t>
            </a:r>
            <a:r>
              <a:rPr lang="en-US" dirty="0"/>
              <a:t>.</a:t>
            </a:r>
          </a:p>
          <a:p>
            <a:pPr lvl="1" algn="just"/>
            <a:r>
              <a:rPr lang="en-US" b="1" dirty="0"/>
              <a:t>Lower C:</a:t>
            </a:r>
            <a:r>
              <a:rPr lang="en-US" dirty="0"/>
              <a:t> Results in a larger margin but more training errors, potentially improving generalization.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40520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183"/>
            <a:ext cx="10515600" cy="679903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Tuning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9714"/>
            <a:ext cx="10515600" cy="5264332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Gamma </a:t>
            </a:r>
            <a:r>
              <a:rPr lang="en-US" b="1" dirty="0"/>
              <a:t>(Kernel Coefficient):</a:t>
            </a:r>
            <a:endParaRPr lang="en-US" dirty="0"/>
          </a:p>
          <a:p>
            <a:pPr lvl="1" algn="just"/>
            <a:r>
              <a:rPr lang="en-US" b="1" dirty="0"/>
              <a:t>Definition:</a:t>
            </a:r>
            <a:r>
              <a:rPr lang="en-US" dirty="0"/>
              <a:t> The gamma parameter determines how far the influence of a single training example reaches.</a:t>
            </a:r>
          </a:p>
          <a:p>
            <a:pPr lvl="1" algn="just"/>
            <a:r>
              <a:rPr lang="en-US" b="1" dirty="0"/>
              <a:t>Higher Gamma:</a:t>
            </a:r>
            <a:r>
              <a:rPr lang="en-US" dirty="0"/>
              <a:t> Leads to a more complex, non-linear decision boundary, potentially causing </a:t>
            </a:r>
            <a:r>
              <a:rPr lang="en-US" dirty="0" err="1"/>
              <a:t>overfitting</a:t>
            </a:r>
            <a:r>
              <a:rPr lang="en-US" dirty="0"/>
              <a:t>.</a:t>
            </a:r>
          </a:p>
          <a:p>
            <a:pPr lvl="1" algn="just"/>
            <a:r>
              <a:rPr lang="en-US" b="1" dirty="0"/>
              <a:t>Lower Gamma:</a:t>
            </a:r>
            <a:r>
              <a:rPr lang="en-US" dirty="0"/>
              <a:t> Results in a simpler, smoother decision boundary, potentially improving generalization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7661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Tuning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6549"/>
            <a:ext cx="10515600" cy="4598125"/>
          </a:xfrm>
        </p:spPr>
        <p:txBody>
          <a:bodyPr/>
          <a:lstStyle/>
          <a:p>
            <a:pPr algn="just"/>
            <a:r>
              <a:rPr lang="en-US" b="1" dirty="0" smtClean="0"/>
              <a:t>Kernel Type</a:t>
            </a:r>
            <a:endParaRPr lang="en-US" dirty="0" smtClean="0"/>
          </a:p>
          <a:p>
            <a:pPr lvl="1" algn="just"/>
            <a:r>
              <a:rPr lang="en-US" b="1" dirty="0" smtClean="0"/>
              <a:t>Definition:</a:t>
            </a:r>
            <a:r>
              <a:rPr lang="en-US" dirty="0" smtClean="0"/>
              <a:t> SVM can use different kernel functions (e.g., linear, polynomial, radial basis function) to transform data into higher dimensions for non-linear classification.</a:t>
            </a:r>
          </a:p>
          <a:p>
            <a:pPr lvl="1" algn="just"/>
            <a:r>
              <a:rPr lang="en-US" b="1" dirty="0" smtClean="0"/>
              <a:t>Choice of Kernel:</a:t>
            </a:r>
            <a:r>
              <a:rPr lang="en-US" dirty="0" smtClean="0"/>
              <a:t> Depends on the nature of the data and the problem.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Tuning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Degree </a:t>
            </a:r>
            <a:r>
              <a:rPr lang="en-US" b="1" dirty="0"/>
              <a:t>(for Polynomial Kernel</a:t>
            </a:r>
            <a:r>
              <a:rPr lang="en-US" b="1" dirty="0" smtClean="0"/>
              <a:t>)</a:t>
            </a:r>
            <a:endParaRPr lang="en-US" dirty="0"/>
          </a:p>
          <a:p>
            <a:pPr lvl="1" algn="just"/>
            <a:r>
              <a:rPr lang="en-US" b="1" dirty="0"/>
              <a:t>Definition:</a:t>
            </a:r>
            <a:r>
              <a:rPr lang="en-US" dirty="0"/>
              <a:t> In the case of a polynomial kernel, the degree parameter determines the degree of the polynomial used for transformation.</a:t>
            </a:r>
          </a:p>
          <a:p>
            <a:pPr lvl="1" algn="just"/>
            <a:r>
              <a:rPr lang="en-US" b="1" dirty="0"/>
              <a:t>Higher Degree:</a:t>
            </a:r>
            <a:r>
              <a:rPr lang="en-US" dirty="0"/>
              <a:t> Results in a more complex polynomial transformation, potentially </a:t>
            </a:r>
            <a:r>
              <a:rPr lang="en-US" dirty="0" err="1"/>
              <a:t>overfitting</a:t>
            </a:r>
            <a:r>
              <a:rPr lang="en-US" dirty="0"/>
              <a:t>.</a:t>
            </a:r>
          </a:p>
          <a:p>
            <a:pPr lvl="1" algn="just"/>
            <a:r>
              <a:rPr lang="en-US" b="1" dirty="0"/>
              <a:t>Lower Degree:</a:t>
            </a:r>
            <a:r>
              <a:rPr lang="en-US" dirty="0"/>
              <a:t> Leads to a simpler polynomial transformation, potentially improving generalization.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03080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Tuning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Class Weights</a:t>
            </a:r>
            <a:endParaRPr lang="en-US" dirty="0" smtClean="0"/>
          </a:p>
          <a:p>
            <a:pPr lvl="1" algn="just"/>
            <a:r>
              <a:rPr lang="en-US" b="1" dirty="0" smtClean="0"/>
              <a:t>Definition:</a:t>
            </a:r>
            <a:r>
              <a:rPr lang="en-US" dirty="0" smtClean="0"/>
              <a:t> SVM allows you to assign different weights to different classes to handle class imbalance issues.</a:t>
            </a:r>
          </a:p>
          <a:p>
            <a:pPr lvl="1" algn="just"/>
            <a:r>
              <a:rPr lang="en-US" b="1" dirty="0" smtClean="0"/>
              <a:t>Use Case:</a:t>
            </a:r>
            <a:r>
              <a:rPr lang="en-US" dirty="0" smtClean="0"/>
              <a:t> Useful when one class has significantly fewer samples than others.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Tuning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Convergence Parameters</a:t>
            </a:r>
            <a:endParaRPr lang="en-IN" dirty="0"/>
          </a:p>
          <a:p>
            <a:pPr lvl="1" algn="just"/>
            <a:r>
              <a:rPr lang="en-IN" b="1" dirty="0"/>
              <a:t>Definition:</a:t>
            </a:r>
            <a:r>
              <a:rPr lang="en-IN" dirty="0"/>
              <a:t> These parameters control the convergence criteria for the SVM optimization algorithm.</a:t>
            </a:r>
          </a:p>
          <a:p>
            <a:pPr lvl="1" algn="just"/>
            <a:r>
              <a:rPr lang="en-IN" b="1" dirty="0"/>
              <a:t>Tolerance (</a:t>
            </a:r>
            <a:r>
              <a:rPr lang="en-IN" b="1" dirty="0" err="1"/>
              <a:t>tol</a:t>
            </a:r>
            <a:r>
              <a:rPr lang="en-IN" b="1" dirty="0"/>
              <a:t>):</a:t>
            </a:r>
            <a:r>
              <a:rPr lang="en-IN" dirty="0"/>
              <a:t> Sets the tolerance for stopping criterion.</a:t>
            </a:r>
          </a:p>
          <a:p>
            <a:pPr lvl="1" algn="just"/>
            <a:r>
              <a:rPr lang="en-IN" b="1" dirty="0"/>
              <a:t>Maximum Iterations (</a:t>
            </a:r>
            <a:r>
              <a:rPr lang="en-IN" b="1" dirty="0" err="1"/>
              <a:t>max_iter</a:t>
            </a:r>
            <a:r>
              <a:rPr lang="en-IN" b="1" dirty="0"/>
              <a:t>):</a:t>
            </a:r>
            <a:r>
              <a:rPr lang="en-IN" dirty="0"/>
              <a:t> Determines the maximum number of iterations for the solver to converge.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89447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Trade-off Parameter (C)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trade-off parameter 'C,‘  controls the balance between maximizing the margin and minimizing classification errors.</a:t>
            </a:r>
          </a:p>
          <a:p>
            <a:pPr algn="just"/>
            <a:r>
              <a:rPr lang="en-US" dirty="0" smtClean="0"/>
              <a:t>A smaller C allows for a wider margin but permits more misclassifications, while a larger C leads to a narrower margin but fewer misclassifications.</a:t>
            </a:r>
          </a:p>
          <a:p>
            <a:pPr algn="just"/>
            <a:r>
              <a:rPr lang="en-US" i="1" dirty="0" smtClean="0"/>
              <a:t>Formula</a:t>
            </a:r>
            <a:r>
              <a:rPr lang="en-US" dirty="0" smtClean="0"/>
              <a:t>: Soft Margin Objective = Margin + C * (Sum of Classification Errors)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Multi Class SVM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Support Vector Machines (SVM) are naturally designed for binary classification, meaning they distinguish between two classes. However, in many real-world scenarios, we encounter problems with more than two classes. </a:t>
            </a:r>
            <a:endParaRPr lang="en-US" dirty="0" smtClean="0"/>
          </a:p>
          <a:p>
            <a:pPr algn="just"/>
            <a:r>
              <a:rPr lang="en-US" dirty="0" smtClean="0"/>
              <a:t>Multi-class </a:t>
            </a:r>
            <a:r>
              <a:rPr lang="en-US" dirty="0"/>
              <a:t>SVM extends the binary SVM to handle such situations effectively.</a:t>
            </a:r>
          </a:p>
          <a:p>
            <a:pPr algn="just"/>
            <a:r>
              <a:rPr lang="en-US" b="1" dirty="0"/>
              <a:t>Challenges in Multi-Class Classification:</a:t>
            </a:r>
            <a:endParaRPr lang="en-US" dirty="0"/>
          </a:p>
          <a:p>
            <a:pPr lvl="1" algn="just"/>
            <a:r>
              <a:rPr lang="en-US" dirty="0"/>
              <a:t>In multi-class classification, there are more than two classes, making the problem more complex.</a:t>
            </a:r>
          </a:p>
          <a:p>
            <a:pPr lvl="1" algn="just"/>
            <a:r>
              <a:rPr lang="en-US" dirty="0"/>
              <a:t>Traditional binary SVM cannot be applied directly to these situations.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4461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Approaches for Multi-Class SVM: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One-</a:t>
            </a:r>
            <a:r>
              <a:rPr lang="en-US" b="1" dirty="0" err="1" smtClean="0"/>
              <a:t>vs</a:t>
            </a:r>
            <a:r>
              <a:rPr lang="en-US" b="1" dirty="0" smtClean="0"/>
              <a:t>-Rest </a:t>
            </a:r>
            <a:r>
              <a:rPr lang="en-US" b="1" dirty="0"/>
              <a:t>(</a:t>
            </a:r>
            <a:r>
              <a:rPr lang="en-US" b="1" dirty="0" err="1"/>
              <a:t>OvR</a:t>
            </a:r>
            <a:r>
              <a:rPr lang="en-US" b="1" dirty="0"/>
              <a:t>) or One-</a:t>
            </a:r>
            <a:r>
              <a:rPr lang="en-US" b="1" dirty="0" err="1"/>
              <a:t>vs</a:t>
            </a:r>
            <a:r>
              <a:rPr lang="en-US" b="1" dirty="0"/>
              <a:t>-All (</a:t>
            </a:r>
            <a:r>
              <a:rPr lang="en-US" b="1" dirty="0" err="1"/>
              <a:t>OvA</a:t>
            </a:r>
            <a:r>
              <a:rPr lang="en-US" b="1" dirty="0" smtClean="0"/>
              <a:t>)</a:t>
            </a:r>
            <a:endParaRPr lang="en-US" dirty="0"/>
          </a:p>
          <a:p>
            <a:pPr lvl="1"/>
            <a:r>
              <a:rPr lang="en-US" dirty="0"/>
              <a:t>In the </a:t>
            </a:r>
            <a:r>
              <a:rPr lang="en-US" dirty="0" err="1"/>
              <a:t>OvR</a:t>
            </a:r>
            <a:r>
              <a:rPr lang="en-US" dirty="0"/>
              <a:t> approach, a separate SVM is trained for each class against the rest.</a:t>
            </a:r>
          </a:p>
          <a:p>
            <a:pPr lvl="1"/>
            <a:r>
              <a:rPr lang="en-US" dirty="0"/>
              <a:t>For N classes, N different binary classifiers are trained.</a:t>
            </a:r>
          </a:p>
          <a:p>
            <a:pPr lvl="1"/>
            <a:r>
              <a:rPr lang="en-US" dirty="0"/>
              <a:t>During prediction, all N classifiers are used, and the class with the highest confidence score is selected.</a:t>
            </a:r>
          </a:p>
          <a:p>
            <a:r>
              <a:rPr lang="en-US" b="1" dirty="0" smtClean="0"/>
              <a:t>One-</a:t>
            </a:r>
            <a:r>
              <a:rPr lang="en-US" b="1" dirty="0" err="1" smtClean="0"/>
              <a:t>vs</a:t>
            </a:r>
            <a:r>
              <a:rPr lang="en-US" b="1" dirty="0" smtClean="0"/>
              <a:t>-One </a:t>
            </a:r>
            <a:r>
              <a:rPr lang="en-US" b="1" dirty="0"/>
              <a:t>(</a:t>
            </a:r>
            <a:r>
              <a:rPr lang="en-US" b="1" dirty="0" err="1"/>
              <a:t>OvO</a:t>
            </a:r>
            <a:r>
              <a:rPr lang="en-US" b="1" dirty="0" smtClean="0"/>
              <a:t>)</a:t>
            </a:r>
            <a:endParaRPr lang="en-US" dirty="0"/>
          </a:p>
          <a:p>
            <a:pPr lvl="1"/>
            <a:r>
              <a:rPr lang="en-US" dirty="0"/>
              <a:t>In the </a:t>
            </a:r>
            <a:r>
              <a:rPr lang="en-US" dirty="0" err="1"/>
              <a:t>OvO</a:t>
            </a:r>
            <a:r>
              <a:rPr lang="en-US" dirty="0"/>
              <a:t> approach, a binary classifier is trained for each pair of classes.</a:t>
            </a:r>
          </a:p>
          <a:p>
            <a:pPr lvl="1"/>
            <a:r>
              <a:rPr lang="en-US" dirty="0"/>
              <a:t>For N classes, N(N-1)/2 classifiers are trained.</a:t>
            </a:r>
          </a:p>
          <a:p>
            <a:pPr lvl="1"/>
            <a:r>
              <a:rPr lang="en-US" dirty="0"/>
              <a:t>During prediction, each classifier votes for a class, and the class with the most votes is the winner.</a:t>
            </a:r>
          </a:p>
        </p:txBody>
      </p:sp>
    </p:spTree>
    <p:extLst>
      <p:ext uri="{BB962C8B-B14F-4D97-AF65-F5344CB8AC3E}">
        <p14:creationId xmlns:p14="http://schemas.microsoft.com/office/powerpoint/2010/main" xmlns="" val="1270692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Advantages of Multi-Class SVM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SVM's </a:t>
            </a:r>
            <a:r>
              <a:rPr lang="en-US" dirty="0"/>
              <a:t>ability to maximize the margin is preserved in multi-class scenarios, making it robust and reliable.</a:t>
            </a:r>
          </a:p>
          <a:p>
            <a:pPr algn="just"/>
            <a:r>
              <a:rPr lang="en-US" dirty="0"/>
              <a:t>It can handle complex decision boundaries and is effective in high-dimensional spaces.</a:t>
            </a:r>
          </a:p>
          <a:p>
            <a:pPr algn="just"/>
            <a:r>
              <a:rPr lang="en-US" dirty="0" smtClean="0"/>
              <a:t>Larger </a:t>
            </a:r>
            <a:r>
              <a:rPr lang="en-US" dirty="0"/>
              <a:t>datasets often favor </a:t>
            </a:r>
            <a:r>
              <a:rPr lang="en-US" dirty="0" err="1"/>
              <a:t>OvR</a:t>
            </a:r>
            <a:r>
              <a:rPr lang="en-US" dirty="0"/>
              <a:t>, while </a:t>
            </a:r>
            <a:r>
              <a:rPr lang="en-US" dirty="0" err="1"/>
              <a:t>OvO</a:t>
            </a:r>
            <a:r>
              <a:rPr lang="en-US" dirty="0"/>
              <a:t> can be preferable for smaller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8782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2333</Words>
  <Application>Microsoft Office PowerPoint</Application>
  <PresentationFormat>Custom</PresentationFormat>
  <Paragraphs>157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Support Vector machines Classifier</vt:lpstr>
      <vt:lpstr>Introduction</vt:lpstr>
      <vt:lpstr>Features of SVM</vt:lpstr>
      <vt:lpstr>Linear Separability</vt:lpstr>
      <vt:lpstr>Why is Linear Separability Important?</vt:lpstr>
      <vt:lpstr>Non-Linear Separability</vt:lpstr>
      <vt:lpstr>Linearly Separable Vs. Non Linearly Separable data Points</vt:lpstr>
      <vt:lpstr>The Margins</vt:lpstr>
      <vt:lpstr>Soft Margin SVM</vt:lpstr>
      <vt:lpstr>When is a Soft Margin Used?</vt:lpstr>
      <vt:lpstr>Benefits of Soft Margin SVM</vt:lpstr>
      <vt:lpstr>Support Vectors</vt:lpstr>
      <vt:lpstr>Hyperplane</vt:lpstr>
      <vt:lpstr>Purpose of the Hyperplane</vt:lpstr>
      <vt:lpstr>2D and 3D Representation of Hyperplane</vt:lpstr>
      <vt:lpstr>Linear SVM</vt:lpstr>
      <vt:lpstr>Advantages of Linear SVM</vt:lpstr>
      <vt:lpstr>Limitations of Linear SVM</vt:lpstr>
      <vt:lpstr>Kernel Functions</vt:lpstr>
      <vt:lpstr>Types of Kernel Functions</vt:lpstr>
      <vt:lpstr>Slide 21</vt:lpstr>
      <vt:lpstr>Tuning Parameters</vt:lpstr>
      <vt:lpstr>Tuning Parameters</vt:lpstr>
      <vt:lpstr>Tuning Parameters</vt:lpstr>
      <vt:lpstr>Tuning Parameters</vt:lpstr>
      <vt:lpstr>Tuning Parameters</vt:lpstr>
      <vt:lpstr>Tuning Parameters</vt:lpstr>
      <vt:lpstr>Trade-off Parameter (C)</vt:lpstr>
      <vt:lpstr>Multi Class SVM</vt:lpstr>
      <vt:lpstr>Approaches for Multi-Class SVM:</vt:lpstr>
      <vt:lpstr>Advantages of Multi-Class SVM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 Classifier</dc:title>
  <dc:creator>Administrator</dc:creator>
  <cp:lastModifiedBy>Neha Garg</cp:lastModifiedBy>
  <cp:revision>22</cp:revision>
  <dcterms:created xsi:type="dcterms:W3CDTF">2023-09-22T21:56:28Z</dcterms:created>
  <dcterms:modified xsi:type="dcterms:W3CDTF">2025-10-07T16:29:28Z</dcterms:modified>
</cp:coreProperties>
</file>